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5C518"/>
                </a:solidFill>
                <a:latin typeface="Segoe UI"/>
              </a:rPr>
              <a:t>BlackSlon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231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"/>
              </a:rPr>
              <a:t>The New Dimension of European Gas &amp; Power Wholesale Markets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246120"/>
            <a:ext cx="9144000" cy="2743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40156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CCCCCC"/>
                </a:solidFill>
                <a:latin typeface="Segoe UI"/>
              </a:rPr>
              <a:t>Zero Expiry.  Zero Barriers.  100 kWh = 1 Token.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29107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Segoe UI"/>
              </a:rPr>
              <a:t>blackslon.org  ·  trading@blackslon.org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291072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88888"/>
                </a:solidFill>
                <a:latin typeface="Segoe UI"/>
              </a:rPr>
              <a:t>Confidential — Seed Round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28600"/>
            <a:ext cx="502920" cy="4572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Segoe U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011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C518"/>
                </a:solidFill>
                <a:latin typeface="Segoe UI"/>
              </a:rPr>
              <a:t>The Architecture of Exclusion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749808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  <a:latin typeface="Segoe UI"/>
              </a:rPr>
              <a:t>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1274552" cy="2743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81328"/>
            <a:ext cx="109728" cy="1097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European wholesale power &amp; gas market: ~€500B annually, trillions in financial turnover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39696"/>
            <a:ext cx="109728" cy="1097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7568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  <a:latin typeface="Segoe UI"/>
              </a:rPr>
              <a:t>Controlled by fewer than 250 institutional players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798064"/>
            <a:ext cx="109728" cy="1097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34056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  <a:latin typeface="Segoe UI"/>
              </a:rPr>
              <a:t>Entry requires €3–5M in capital, 12+ months regulatory onboarding,
    investment-grade credit ratings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456432"/>
            <a:ext cx="109728" cy="1097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392424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  <a:latin typeface="Segoe UI"/>
              </a:rPr>
              <a:t>No platform exists giving anyone outside this inner circle access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187952"/>
            <a:ext cx="11247120" cy="658368"/>
          </a:xfrm>
          <a:prstGeom prst="rect">
            <a:avLst/>
          </a:prstGeom>
          <a:solidFill>
            <a:srgbClr val="2A2A2A"/>
          </a:solidFill>
          <a:ln w="1905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25195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C518"/>
                </a:solidFill>
                <a:latin typeface="Segoe UI"/>
              </a:rPr>
              <a:t>This is not a market inefficiency.  It is the architecture.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78240" y="1280160"/>
            <a:ext cx="2926080" cy="2194560"/>
          </a:xfrm>
          <a:prstGeom prst="rect">
            <a:avLst/>
          </a:prstGeom>
          <a:solidFill>
            <a:srgbClr val="181818"/>
          </a:solidFill>
          <a:ln w="12700">
            <a:solidFill>
              <a:srgbClr val="B88C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0" y="13716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5C518"/>
                </a:solidFill>
                <a:latin typeface="Segoe UI"/>
              </a:rPr>
              <a:t>&lt; 250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19202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88"/>
                </a:solidFill>
                <a:latin typeface="Segoe UI"/>
              </a:rPr>
              <a:t>institutional players
control the entire
European energy market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28600"/>
            <a:ext cx="502920" cy="4572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Segoe U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011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C518"/>
                </a:solidFill>
                <a:latin typeface="Segoe UI"/>
              </a:rPr>
              <a:t>Zero Expiry.  Zero Barriers.  100 kWh = 1 Token.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749808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  <a:latin typeface="Segoe UI"/>
              </a:rPr>
              <a:t>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1274552" cy="2743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C518"/>
                </a:solidFill>
                <a:latin typeface="Segoe UI"/>
              </a:rPr>
              <a:t>BlackSlon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4173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  <a:latin typeface="Segoe UI"/>
              </a:rPr>
              <a:t>the first decentralised protocol for European wholesale gas &amp; power markets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11155680" cy="1097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13055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C518"/>
                </a:solidFill>
                <a:latin typeface="Segoe UI"/>
              </a:rPr>
              <a:t>Minimum entry: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13055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  <a:latin typeface="Segoe UI"/>
              </a:rPr>
              <a:t>from €744,600 (smallest German yearly power contract) to a few euros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633472"/>
            <a:ext cx="11155680" cy="1097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843784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C518"/>
                </a:solidFill>
                <a:latin typeface="Segoe UI"/>
              </a:rPr>
              <a:t>Same market,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843784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  <a:latin typeface="Segoe UI"/>
              </a:rPr>
              <a:t>accessible to any participant, anywhere, at any 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346704"/>
            <a:ext cx="11155680" cy="1097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557016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C518"/>
                </a:solidFill>
                <a:latin typeface="Segoe UI"/>
              </a:rPr>
              <a:t>No forced rolls,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557016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  <a:latin typeface="Segoe UI"/>
              </a:rPr>
              <a:t>no expiry, no overnight costs, no clearing banks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059936"/>
            <a:ext cx="11155680" cy="1097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8978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1">
                <a:solidFill>
                  <a:srgbClr val="F5C518"/>
                </a:solidFill>
                <a:latin typeface="Segoe UI"/>
              </a:rPr>
              <a:t>The same market.  For everyone.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28600"/>
            <a:ext cx="502920" cy="4572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Segoe U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011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C518"/>
                </a:solidFill>
                <a:latin typeface="Segoe UI"/>
              </a:rPr>
              <a:t>The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749808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  <a:latin typeface="Segoe UI"/>
              </a:rPr>
              <a:t>PRODUCT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1274552" cy="2743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577840" cy="1051560"/>
          </a:xfrm>
          <a:prstGeom prst="rect">
            <a:avLst/>
          </a:prstGeom>
          <a:solidFill>
            <a:srgbClr val="181818"/>
          </a:solidFill>
          <a:ln w="12700">
            <a:solidFill>
              <a:srgbClr val="B88C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5087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C518"/>
                </a:solidFill>
                <a:latin typeface="Segoe UI"/>
              </a:rPr>
              <a:t>BSSZ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856232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Segoe UI"/>
              </a:rPr>
              <a:t>Physically-anchored price corridor filtering chaos, preserving trend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51760"/>
            <a:ext cx="5577840" cy="1051560"/>
          </a:xfrm>
          <a:prstGeom prst="rect">
            <a:avLst/>
          </a:prstGeom>
          <a:solidFill>
            <a:srgbClr val="181818"/>
          </a:solidFill>
          <a:ln w="12700">
            <a:solidFill>
              <a:srgbClr val="B88C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7432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C518"/>
                </a:solidFill>
                <a:latin typeface="Segoe UI"/>
              </a:rPr>
              <a:t>BSEI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090672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Segoe UI"/>
              </a:rPr>
              <a:t>Manipulation-resistant 72h rolling benchmark index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86200"/>
            <a:ext cx="5577840" cy="1051560"/>
          </a:xfrm>
          <a:prstGeom prst="rect">
            <a:avLst/>
          </a:prstGeom>
          <a:solidFill>
            <a:srgbClr val="181818"/>
          </a:solidFill>
          <a:ln w="12700">
            <a:solidFill>
              <a:srgbClr val="B88C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3977639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C518"/>
                </a:solidFill>
                <a:latin typeface="Segoe UI"/>
              </a:rPr>
              <a:t>Perpetual Instruments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4325112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Segoe UI"/>
              </a:rPr>
              <a:t>No forced rolls, no expiry, no overnight costs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417320"/>
            <a:ext cx="5577840" cy="1051560"/>
          </a:xfrm>
          <a:prstGeom prst="rect">
            <a:avLst/>
          </a:prstGeom>
          <a:solidFill>
            <a:srgbClr val="181818"/>
          </a:solidFill>
          <a:ln w="12700">
            <a:solidFill>
              <a:srgbClr val="B88C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15087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C518"/>
                </a:solidFill>
                <a:latin typeface="Segoe UI"/>
              </a:rPr>
              <a:t>Smart Liquidation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1856232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Segoe UI"/>
              </a:rPr>
              <a:t>10% increments — never a full forced close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651760"/>
            <a:ext cx="5577840" cy="1051560"/>
          </a:xfrm>
          <a:prstGeom prst="rect">
            <a:avLst/>
          </a:prstGeom>
          <a:solidFill>
            <a:srgbClr val="181818"/>
          </a:solidFill>
          <a:ln w="12700">
            <a:solidFill>
              <a:srgbClr val="B88C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27432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C518"/>
                </a:solidFill>
                <a:latin typeface="Segoe UI"/>
              </a:rPr>
              <a:t>eEURO + €BSR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3090672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Segoe UI"/>
              </a:rPr>
              <a:t>MiCA-compliant settlement &amp; collateral layer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943600"/>
            <a:ext cx="11247120" cy="5943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989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5C518"/>
                </a:solidFill>
                <a:latin typeface="Segoe UI"/>
              </a:rPr>
              <a:t>Demo live:  blackslon.org/markets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28600"/>
            <a:ext cx="502920" cy="4572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Segoe U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011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C518"/>
                </a:solidFill>
                <a:latin typeface="Segoe UI"/>
              </a:rPr>
              <a:t>The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749808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  <a:latin typeface="Segoe UI"/>
              </a:rPr>
              <a:t>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1274552" cy="2743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566160" cy="1645920"/>
          </a:xfrm>
          <a:prstGeom prst="rect">
            <a:avLst/>
          </a:prstGeom>
          <a:solidFill>
            <a:srgbClr val="181818"/>
          </a:solidFill>
          <a:ln w="12700">
            <a:solidFill>
              <a:srgbClr val="B88C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5C518"/>
                </a:solidFill>
                <a:latin typeface="Segoe UI"/>
              </a:rPr>
              <a:t>~€500B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8888"/>
                </a:solidFill>
                <a:latin typeface="Segoe UI"/>
              </a:rPr>
              <a:t>physical market
annually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371600"/>
            <a:ext cx="3566160" cy="1645920"/>
          </a:xfrm>
          <a:prstGeom prst="rect">
            <a:avLst/>
          </a:prstGeom>
          <a:solidFill>
            <a:srgbClr val="181818"/>
          </a:solidFill>
          <a:ln w="12700">
            <a:solidFill>
              <a:srgbClr val="B88C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46304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5C518"/>
                </a:solidFill>
                <a:latin typeface="Segoe UI"/>
              </a:rPr>
              <a:t>Trillions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10312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8888"/>
                </a:solidFill>
                <a:latin typeface="Segoe UI"/>
              </a:rPr>
              <a:t>financial turnover
annually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371600"/>
            <a:ext cx="3566160" cy="1645920"/>
          </a:xfrm>
          <a:prstGeom prst="rect">
            <a:avLst/>
          </a:prstGeom>
          <a:solidFill>
            <a:srgbClr val="181818"/>
          </a:solidFill>
          <a:ln w="12700">
            <a:solidFill>
              <a:srgbClr val="B88C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46304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5C518"/>
                </a:solidFill>
                <a:latin typeface="Segoe UI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10312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8888"/>
                </a:solidFill>
                <a:latin typeface="Segoe UI"/>
              </a:rPr>
              <a:t>direct decentralised
competitors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246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C518"/>
                </a:solidFill>
                <a:latin typeface="Segoe UI"/>
              </a:rPr>
              <a:t>Currently excluded from these markets: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749039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70332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Segoe UI"/>
              </a:rPr>
              <a:t>Independent traders &amp; proprietary shops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206240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16052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Segoe UI"/>
              </a:rPr>
              <a:t>Industrial consumers seeking direct hedges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663440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61772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Segoe UI"/>
              </a:rPr>
              <a:t>Renewable energy producers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120640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07492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Segoe UI"/>
              </a:rPr>
              <a:t>Retail &amp; institutional investors outside the club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9893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  <a:latin typeface="Segoe UI"/>
              </a:rPr>
              <a:t>Adjacent: crypto derivatives $50B+ daily volume  ·  commodity tokenisation (emerging)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28600"/>
            <a:ext cx="502920" cy="4572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Segoe U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011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C518"/>
                </a:solidFill>
                <a:latin typeface="Segoe UI"/>
              </a:rPr>
              <a:t>How BlackSlon Makes Money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749808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  <a:latin typeface="Segoe UI"/>
              </a:rPr>
              <a:t>BUSINESS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1274552" cy="2743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486400" cy="1691640"/>
          </a:xfrm>
          <a:prstGeom prst="rect">
            <a:avLst/>
          </a:prstGeom>
          <a:solidFill>
            <a:srgbClr val="181818"/>
          </a:solidFill>
          <a:ln w="1905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2704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C518"/>
                </a:solidFill>
                <a:latin typeface="Segoe UI"/>
              </a:rPr>
              <a:t>Trading Fees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47672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Segoe UI"/>
              </a:rPr>
              <a:t>0.20% – 1.00% per transaction
(tiered by €BSR collateral level)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417320"/>
            <a:ext cx="5486400" cy="1691640"/>
          </a:xfrm>
          <a:prstGeom prst="rect">
            <a:avLst/>
          </a:prstGeom>
          <a:solidFill>
            <a:srgbClr val="181818"/>
          </a:solidFill>
          <a:ln w="1905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2704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C518"/>
                </a:solidFill>
                <a:latin typeface="Segoe UI"/>
              </a:rPr>
              <a:t>Maintenance Fee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47672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Segoe UI"/>
              </a:rPr>
              <a:t>0.1% / month on total vault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37560"/>
            <a:ext cx="5486400" cy="1691640"/>
          </a:xfrm>
          <a:prstGeom prst="rect">
            <a:avLst/>
          </a:prstGeom>
          <a:solidFill>
            <a:srgbClr val="181818"/>
          </a:solidFill>
          <a:ln w="1905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44728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C518"/>
                </a:solidFill>
                <a:latin typeface="Segoe UI"/>
              </a:rPr>
              <a:t>PLP Fees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867912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Segoe UI"/>
              </a:rPr>
              <a:t>Proportional share from liquidity
provision pool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337560"/>
            <a:ext cx="5486400" cy="1691640"/>
          </a:xfrm>
          <a:prstGeom prst="rect">
            <a:avLst/>
          </a:prstGeom>
          <a:solidFill>
            <a:srgbClr val="181818"/>
          </a:solidFill>
          <a:ln w="1905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44728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C518"/>
                </a:solidFill>
                <a:latin typeface="Segoe UI"/>
              </a:rPr>
              <a:t>€BSR Appreciation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867912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Segoe UI"/>
              </a:rPr>
              <a:t>Deflationary token — burns on
liquidation events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92531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1">
                <a:solidFill>
                  <a:srgbClr val="888888"/>
                </a:solidFill>
                <a:latin typeface="Segoe UI"/>
              </a:rPr>
              <a:t>Asset-light model — protocol runs algorithmically, 24 / 7 / 365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28600"/>
            <a:ext cx="502920" cy="4572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Segoe U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011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C518"/>
                </a:solidFill>
                <a:latin typeface="Segoe UI"/>
              </a:rPr>
              <a:t>Where We 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749808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  <a:latin typeface="Segoe UI"/>
              </a:rPr>
              <a:t>TRACTION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1274552" cy="2743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81328"/>
            <a:ext cx="164592" cy="16459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44752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Segoe U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7160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C518"/>
                </a:solidFill>
                <a:latin typeface="Segoe UI"/>
              </a:rPr>
              <a:t>White Paper v3.0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371600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Segoe UI"/>
              </a:rPr>
              <a:t>Complete protocol specification — BSSZ, BSEI, ADR, Health Factor, risk management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10512"/>
            <a:ext cx="11247120" cy="7315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139696"/>
            <a:ext cx="164592" cy="16459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103120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Segoe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029967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C518"/>
                </a:solidFill>
                <a:latin typeface="Segoe UI"/>
              </a:rPr>
              <a:t>Working 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029967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Segoe UI"/>
              </a:rPr>
              <a:t>blackslon.org/markets — live order book, matching engine, risk UI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468879"/>
            <a:ext cx="11247120" cy="7315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798063"/>
            <a:ext cx="164592" cy="16459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761487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Segoe U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2688335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C518"/>
                </a:solidFill>
                <a:latin typeface="Segoe UI"/>
              </a:rPr>
              <a:t>Email Wallet Onboarding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2688335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Segoe UI"/>
              </a:rPr>
              <a:t>OTP-verified wallet connection — live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127247"/>
            <a:ext cx="11247120" cy="7315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456431"/>
            <a:ext cx="164592" cy="16459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419855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Segoe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346703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C518"/>
                </a:solidFill>
                <a:latin typeface="Segoe UI"/>
              </a:rPr>
              <a:t>Alliance DAO Application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3346703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Segoe UI"/>
              </a:rPr>
              <a:t>Accelerator application submitted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785615"/>
            <a:ext cx="11247120" cy="7315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114799"/>
            <a:ext cx="164592" cy="164592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078223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88888"/>
                </a:solidFill>
                <a:latin typeface="Segoe UI"/>
              </a:rPr>
              <a:t>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005071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88888"/>
                </a:solidFill>
                <a:latin typeface="Segoe UI"/>
              </a:rPr>
              <a:t>CASP Licensing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4005071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Segoe UI"/>
              </a:rPr>
              <a:t>Lithuania / Bulgaria — Q3 2026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443983"/>
            <a:ext cx="11247120" cy="7315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4773167"/>
            <a:ext cx="164592" cy="164592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736591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88888"/>
                </a:solidFill>
                <a:latin typeface="Segoe UI"/>
              </a:rPr>
              <a:t>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4663439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88888"/>
                </a:solidFill>
                <a:latin typeface="Segoe UI"/>
              </a:rPr>
              <a:t>Smart Contract Audit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4663439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Segoe UI"/>
              </a:rPr>
              <a:t>EVM deployment — H2 2026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102351"/>
            <a:ext cx="11247120" cy="7315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9893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88C0A"/>
                </a:solidFill>
                <a:latin typeface="Segoe UI"/>
              </a:rPr>
              <a:t>Founder network: 20+ years of relationships across ICE, EEX, TGE, EPEX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28600"/>
            <a:ext cx="502920" cy="4572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Segoe U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011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C518"/>
                </a:solidFill>
                <a:latin typeface="Segoe UI"/>
              </a:rPr>
              <a:t>Why No One Has Done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749808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  <a:latin typeface="Segoe UI"/>
              </a:rPr>
              <a:t>COMPETITION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1274552" cy="2743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3291840" cy="53035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88888"/>
                </a:solidFill>
                <a:latin typeface="Segoe UI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3840480" y="1325880"/>
            <a:ext cx="2194560" cy="53035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86200" y="1371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Segoe UI"/>
              </a:rPr>
              <a:t>BlackSlon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325880"/>
            <a:ext cx="2194560" cy="53035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1371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88888"/>
                </a:solidFill>
                <a:latin typeface="Segoe UI"/>
              </a:rPr>
              <a:t>Traditional
Exchanges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1325880"/>
            <a:ext cx="2194560" cy="53035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1371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88888"/>
                </a:solidFill>
                <a:latin typeface="Segoe UI"/>
              </a:rPr>
              <a:t>DeFi
Protocols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856231"/>
            <a:ext cx="3291840" cy="621792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020824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Segoe UI"/>
              </a:rPr>
              <a:t>European energy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1856231"/>
            <a:ext cx="2194560" cy="62179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0" y="202082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  <a:latin typeface="Segoe UI"/>
              </a:rPr>
              <a:t>YES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1856231"/>
            <a:ext cx="2194560" cy="621792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02082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C55E"/>
                </a:solidFill>
                <a:latin typeface="Segoe UI"/>
              </a:rPr>
              <a:t>YES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0" y="1856231"/>
            <a:ext cx="2194560" cy="621792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202082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F4444"/>
                </a:solidFill>
                <a:latin typeface="Segoe UI"/>
              </a:rPr>
              <a:t>NO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514600"/>
            <a:ext cx="3291840" cy="62179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267919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Segoe UI"/>
              </a:rPr>
              <a:t>Open access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0" y="2514600"/>
            <a:ext cx="2194560" cy="62179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0" y="267919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  <a:latin typeface="Segoe UI"/>
              </a:rPr>
              <a:t>YES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2514600"/>
            <a:ext cx="2194560" cy="62179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267919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F4444"/>
                </a:solidFill>
                <a:latin typeface="Segoe UI"/>
              </a:rPr>
              <a:t>NO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12480" y="2514600"/>
            <a:ext cx="2194560" cy="62179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267919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C55E"/>
                </a:solidFill>
                <a:latin typeface="Segoe UI"/>
              </a:rPr>
              <a:t>YES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172968"/>
            <a:ext cx="3291840" cy="621792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333756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Segoe UI"/>
              </a:rPr>
              <a:t>Physical anchor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40480" y="3172968"/>
            <a:ext cx="2194560" cy="62179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40480" y="333756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  <a:latin typeface="Segoe UI"/>
              </a:rPr>
              <a:t>YES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3172968"/>
            <a:ext cx="2194560" cy="621792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26480" y="333756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C55E"/>
                </a:solidFill>
                <a:latin typeface="Segoe UI"/>
              </a:rPr>
              <a:t>YES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12480" y="3172968"/>
            <a:ext cx="2194560" cy="621792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0" y="333756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F4444"/>
                </a:solidFill>
                <a:latin typeface="Segoe UI"/>
              </a:rPr>
              <a:t>NO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3831335"/>
            <a:ext cx="3291840" cy="62179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3995927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Segoe UI"/>
              </a:rPr>
              <a:t>Perpetual instruments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80" y="3831335"/>
            <a:ext cx="2194560" cy="62179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40480" y="3995927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  <a:latin typeface="Segoe UI"/>
              </a:rPr>
              <a:t>YES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0" y="3831335"/>
            <a:ext cx="2194560" cy="62179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26480" y="3995927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F4444"/>
                </a:solidFill>
                <a:latin typeface="Segoe UI"/>
              </a:rPr>
              <a:t>NO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12480" y="3831335"/>
            <a:ext cx="2194560" cy="62179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0" y="3995927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88C0A"/>
                </a:solidFill>
                <a:latin typeface="Segoe UI"/>
              </a:rPr>
              <a:t>Partial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4489704"/>
            <a:ext cx="3291840" cy="621792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" y="4654296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Segoe UI"/>
              </a:rPr>
              <a:t>No expiry / rollover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840480" y="4489704"/>
            <a:ext cx="2194560" cy="62179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840480" y="465429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  <a:latin typeface="Segoe UI"/>
              </a:rPr>
              <a:t>YES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26480" y="4489704"/>
            <a:ext cx="2194560" cy="621792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26480" y="465429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F4444"/>
                </a:solidFill>
                <a:latin typeface="Segoe UI"/>
              </a:rPr>
              <a:t>NO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12480" y="4489704"/>
            <a:ext cx="2194560" cy="621792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12480" y="465429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F4444"/>
                </a:solidFill>
                <a:latin typeface="Segoe UI"/>
              </a:rPr>
              <a:t>NO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587044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  <a:latin typeface="Segoe UI"/>
              </a:rPr>
              <a:t>No direct competitor.  Closest: energy derivatives on CME/ICE (institutional only) and synthetic commodity protocols (no physical anchor).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28600"/>
            <a:ext cx="502920" cy="4572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Segoe U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011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C518"/>
                </a:solidFill>
                <a:latin typeface="Segoe UI"/>
              </a:rPr>
              <a:t>The Founder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749808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  <a:latin typeface="Segoe UI"/>
              </a:rPr>
              <a:t>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1274552" cy="2743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11247120" cy="5943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8988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C518"/>
                </a:solidFill>
                <a:latin typeface="Segoe UI"/>
              </a:rPr>
              <a:t>Konrad Dynkiewicz  —  Founder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03703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21408"/>
            <a:ext cx="10607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Segoe UI"/>
              </a:rPr>
              <a:t>20+ years trading Natural Gas, Power, Oil Products, Carbon Emissions across European markets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770632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688336"/>
            <a:ext cx="10607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Segoe UI"/>
              </a:rPr>
              <a:t>Trader → Originator → Director → Partner in state-owned, private and global trading houses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337560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255264"/>
            <a:ext cx="10607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Segoe UI"/>
              </a:rPr>
              <a:t>One of the largest natural gas suppliers from the European Union to Ukraine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904487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822191"/>
            <a:ext cx="10607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Segoe UI"/>
              </a:rPr>
              <a:t>Operated in CEE frontier markets before digital benchmarks or centralised exchanges existed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471416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4389120"/>
            <a:ext cx="10607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Segoe UI"/>
              </a:rPr>
              <a:t>University of Warsaw (UW)  ·  St. Petersburg State University  ·  MGIMO Moscow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760720"/>
            <a:ext cx="11247120" cy="749808"/>
          </a:xfrm>
          <a:prstGeom prst="rect">
            <a:avLst/>
          </a:prstGeom>
          <a:solidFill>
            <a:srgbClr val="181818"/>
          </a:solidFill>
          <a:ln w="1905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8704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C518"/>
                </a:solidFill>
                <a:latin typeface="Segoe UI"/>
              </a:rPr>
              <a:t>Seeking:  Technical co-founder (blockchain / smart contracts)  +  Regulatory counsel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28600"/>
            <a:ext cx="502920" cy="4572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Segoe UI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011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C518"/>
                </a:solidFill>
                <a:latin typeface="Segoe UI"/>
              </a:rPr>
              <a:t>The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749808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  <a:latin typeface="Segoe UI"/>
              </a:rPr>
              <a:t>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1274552" cy="2743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3749039" cy="4114800"/>
          </a:xfrm>
          <a:prstGeom prst="rect">
            <a:avLst/>
          </a:prstGeom>
          <a:solidFill>
            <a:srgbClr val="181818"/>
          </a:solidFill>
          <a:ln w="2540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3749039" cy="5029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5331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Segoe UI"/>
              </a:rP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135331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00000"/>
                </a:solidFill>
                <a:latin typeface="Segoe UI"/>
              </a:rPr>
              <a:t>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3852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C518"/>
                </a:solidFill>
                <a:latin typeface="Segoe UI"/>
              </a:rPr>
              <a:t>Virtual Protocol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514600"/>
            <a:ext cx="3474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Segoe UI"/>
              </a:rPr>
              <a:t>CASP licensing · Smart contract audit
Oracle infrastructure · Live trading · PLP onboarding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325880"/>
            <a:ext cx="3749039" cy="4114800"/>
          </a:xfrm>
          <a:prstGeom prst="rect">
            <a:avLst/>
          </a:prstGeom>
          <a:solidFill>
            <a:srgbClr val="181818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325880"/>
            <a:ext cx="3749039" cy="502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59" y="135331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Segoe UI"/>
              </a:rPr>
              <a:t>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35331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00000"/>
                </a:solidFill>
                <a:latin typeface="Segoe UI"/>
              </a:rPr>
              <a:t>2027–2028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193852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6B6D4"/>
                </a:solidFill>
                <a:latin typeface="Segoe UI"/>
              </a:rPr>
              <a:t>Physical 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514600"/>
            <a:ext cx="3474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Segoe UI"/>
              </a:rPr>
              <a:t>BS-P/G token physical redemption · Industrial consumer hedging
Cross-market swaps · RWA bridge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1325880"/>
            <a:ext cx="3749039" cy="4114800"/>
          </a:xfrm>
          <a:prstGeom prst="rect">
            <a:avLst/>
          </a:prstGeom>
          <a:solidFill>
            <a:srgbClr val="181818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21040" y="1325880"/>
            <a:ext cx="3749039" cy="502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135331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Segoe UI"/>
              </a:rPr>
              <a:t>Phase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135331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00000"/>
                </a:solidFill>
                <a:latin typeface="Segoe UI"/>
              </a:rPr>
              <a:t>2028+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193852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C55E"/>
                </a:solidFill>
                <a:latin typeface="Segoe UI"/>
              </a:rPr>
              <a:t>Benchmark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2514600"/>
            <a:ext cx="3474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Segoe UI"/>
              </a:rPr>
              <a:t>BSEI becomes European energy reference
Expansion to 15+ markets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77639" y="324612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A2A2A"/>
                </a:solidFill>
                <a:latin typeface="Segoe UI"/>
              </a:rPr>
              <a:t>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60" y="324612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A2A2A"/>
                </a:solidFill>
                <a:latin typeface="Segoe UI"/>
              </a:rPr>
              <a:t>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9436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Segoe UI"/>
              </a:rPr>
              <a:t>All timelines subject to regulatory approvals and market conditions.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28600"/>
            <a:ext cx="502920" cy="4572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Segoe U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011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C518"/>
                </a:solidFill>
                <a:latin typeface="Segoe UI"/>
              </a:rPr>
              <a:t>Join the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749808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  <a:latin typeface="Segoe UI"/>
              </a:rPr>
              <a:t>INVESTMENT ASK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1274552" cy="2743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5303520" cy="10058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89888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0000"/>
                </a:solidFill>
                <a:latin typeface="Segoe UI"/>
              </a:rPr>
              <a:t>Raising  €2–5M  Seed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8716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C518"/>
                </a:solidFill>
                <a:latin typeface="Segoe UI"/>
              </a:rPr>
              <a:t>Allocation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0779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Segoe UI"/>
              </a:rPr>
              <a:t>CASP licensing (Lithuania / Bulgaria)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90779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5C518"/>
                </a:solidFill>
                <a:latin typeface="Segoe UI"/>
              </a:rPr>
              <a:t>25%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28416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Segoe UI"/>
              </a:rPr>
              <a:t>Smart contract development &amp; audit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328416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5C518"/>
                </a:solidFill>
                <a:latin typeface="Segoe UI"/>
              </a:rPr>
              <a:t>30%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4904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Segoe UI"/>
              </a:rPr>
              <a:t>Oracle infrastructure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74904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5C518"/>
                </a:solidFill>
                <a:latin typeface="Segoe UI"/>
              </a:rPr>
              <a:t>15%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169664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Segoe UI"/>
              </a:rPr>
              <a:t>Regulatory counsel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16966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5C518"/>
                </a:solidFill>
                <a:latin typeface="Segoe UI"/>
              </a:rPr>
              <a:t>15%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59028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Segoe UI"/>
              </a:rPr>
              <a:t>Operations &amp; runway (12 months)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59028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5C518"/>
                </a:solidFill>
                <a:latin typeface="Segoe UI"/>
              </a:rPr>
              <a:t>15%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298448"/>
            <a:ext cx="5486400" cy="4343400"/>
          </a:xfrm>
          <a:prstGeom prst="rect">
            <a:avLst/>
          </a:prstGeom>
          <a:solidFill>
            <a:srgbClr val="181818"/>
          </a:solidFill>
          <a:ln w="12700">
            <a:solidFill>
              <a:srgbClr val="B88C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41732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C518"/>
                </a:solidFill>
                <a:latin typeface="Segoe UI"/>
              </a:rPr>
              <a:t>Looking for: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1901952"/>
            <a:ext cx="5166360" cy="9144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197510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Seed capital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35915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Segoe UI"/>
              </a:rPr>
              <a:t>VC / angel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2980944"/>
            <a:ext cx="5166360" cy="9144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05409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Technical co-founder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438144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Segoe UI"/>
              </a:rPr>
              <a:t>blockchain / smart contracts partner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4059935"/>
            <a:ext cx="5166360" cy="9144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133087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First PLP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517136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Segoe UI"/>
              </a:rPr>
              <a:t>€500K minimum · Genesis €BSR allocation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144768"/>
            <a:ext cx="12188952" cy="71323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23620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Segoe UI"/>
              </a:rPr>
              <a:t>trading@blackslon.org    ·    blackslon.org    ·    blackslon.org/markets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